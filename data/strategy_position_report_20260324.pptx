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Microsoft YaHei"/>
              </a:defRPr>
            </a:pPr>
            <a:r>
              <a:t>量化策略建仓报告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Arial"/>
              </a:defRPr>
            </a:pPr>
            <a:r>
              <a:t>Strategy A ~ G Portfolio Position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F0"/>
                </a:solidFill>
                <a:latin typeface="Arial"/>
              </a:defRPr>
            </a:pPr>
            <a:r>
              <a:t>Signal Date: 2026-03-20  |  Report: 2026-03-24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29184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A: 纯债ETF轮动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4.1%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-2.1%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329184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B: 4因子ETF动量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15.6%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-18.3%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29184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Microsoft YaHei"/>
              </a:defRPr>
            </a:pPr>
            <a:r>
              <a:t>C: 港股Top1轮动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17.0%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-23.3%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7999" y="329184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39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D: CSI300低波动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39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13.9%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-8.5%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25196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157"/>
                </a:solidFill>
                <a:latin typeface="Microsoft YaHei"/>
              </a:defRPr>
            </a:pPr>
            <a:r>
              <a:t>E: 价值反转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22.0%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-17.6%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79" y="425196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F: 美股QDII动量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13.0%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-18.9%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251960"/>
            <a:ext cx="2011680" cy="7772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G: CSI500低波价值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Arial"/>
              </a:defRPr>
            </a:pPr>
            <a:r>
              <a:t>CAGR 13.5%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157"/>
                </a:solidFill>
                <a:latin typeface="Arial"/>
              </a:defRPr>
            </a:pPr>
            <a:r>
              <a:t>MDD -11.9%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策略总览与建仓建议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34747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MDD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Calmar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Microsoft YaHei"/>
              </a:defRPr>
            </a:pPr>
            <a:r>
              <a:t>信号概要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纯债轮动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1.97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十年国债50%+城投30%+信用20%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92807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89280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4因子ETF(实盘)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89280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15.6%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89280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-18.3%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89280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89280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红利低波45%+现金流27%+价值18%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2768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2768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港股Top1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276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17.0%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276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-23.3%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2768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0.73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276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恒生高股息ETF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609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6609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CSI300低波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660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13.9%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660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-8.5%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660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1.64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云南白药/格力/上海医药等10只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0449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157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30449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龙头价值反转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044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22.0%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044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-17.6%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3044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1.25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迈瑞/讯飞/恒瑞/中兴 各25%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429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3429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美股QDII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3429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13.0%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3429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-18.9%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429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0.69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纳指100+标普500+短债避险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813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CSI500低波价值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3813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Arial"/>
              </a:defRPr>
            </a:pPr>
            <a:r>
              <a:t>13.5%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3813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157"/>
                </a:solidFill>
                <a:latin typeface="Arial"/>
              </a:defRPr>
            </a:pPr>
            <a:r>
              <a:t>-11.9%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813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Arial"/>
              </a:defRPr>
            </a:pPr>
            <a:r>
              <a:t>1.13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CC"/>
                </a:solidFill>
                <a:latin typeface="Microsoft YaHei"/>
              </a:defRPr>
            </a:pPr>
            <a:r>
              <a:t>贵阳银行/青农商行/苏州银行等10只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建议: 确认各策略投入金额后，即可生成详细买入清单 (具体股数/手数/金额)</a:t>
            </a:r>
            <a:br/>
            <a:r>
              <a:t>策略B已确认20万实盘，本周一(3/24)开始建仓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A  纯债ETF动量轮动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四只债券ETF按8周动量轮动 | 15年回测 | Calmar 1.97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4.1%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-2.1%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1.045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Calmar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1.971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2296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当前信号 (3/20)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511260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十年国债ETF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511220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城投债ETF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511030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信用债ETF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CC"/>
                </a:solidFill>
                <a:latin typeface="Arial"/>
              </a:defRPr>
            </a:pPr>
            <a:r>
              <a:t>511360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短债ETF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AACC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B  4因子ETF动量轮动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20万实盘 | 4因子池Top3集中 | Vol缩放 | 周度调仓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15.6%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-18.3%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1.128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投入资金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20万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229600" cy="2926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建仓计划 (3/24 周一开盘)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市场状态: 过渡 | 总仓位: 91% (Regime 70% x Vol缩放 130%)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515080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红利低波ETF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Arial"/>
              </a:defRPr>
            </a:pPr>
            <a:r>
              <a:t>45.5%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700"/>
                </a:solidFill>
                <a:latin typeface="Arial"/>
              </a:defRPr>
            </a:pPr>
            <a:r>
              <a:t>91,000元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#1 +2.1%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159201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自由现金流ETF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Arial"/>
              </a:defRPr>
            </a:pPr>
            <a:r>
              <a:t>27.3%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700"/>
                </a:solidFill>
                <a:latin typeface="Arial"/>
              </a:defRPr>
            </a:pPr>
            <a:r>
              <a:t>54,600元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#2 -2.0%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Arial"/>
              </a:defRPr>
            </a:pPr>
            <a:r>
              <a:t>512040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国信价值ETF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Arial"/>
              </a:defRPr>
            </a:pPr>
            <a:r>
              <a:t>18.2%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700"/>
                </a:solidFill>
                <a:latin typeface="Arial"/>
              </a:defRPr>
            </a:pPr>
            <a:r>
              <a:t>36,400元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#3 -3.0%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AAACC"/>
                </a:solidFill>
                <a:latin typeface="Arial"/>
              </a:defRPr>
            </a:pPr>
            <a:r>
              <a:t>159967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创业板成长ETF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AACC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700"/>
                </a:solidFill>
                <a:latin typeface="Arial"/>
              </a:defRPr>
            </a:pPr>
            <a:r>
              <a:t>0元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#4 -3.7%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Arial"/>
              </a:defRPr>
            </a:pPr>
            <a:r>
              <a:t>现金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货币基金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029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Arial"/>
              </a:defRPr>
            </a:pPr>
            <a:r>
              <a:t>9.0%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D700"/>
                </a:solidFill>
                <a:latin typeface="Arial"/>
              </a:defRPr>
            </a:pPr>
            <a:r>
              <a:t>18,000元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B86FC"/>
                </a:solidFill>
                <a:latin typeface="Microsoft YaHei"/>
              </a:defRPr>
            </a:pPr>
            <a:r>
              <a:t>C  港股ETF纯动量轮动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3只港股ETF按4周动量Top1全仓 | 回测CAGR 17%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17.0%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-23.3%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~0.85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Top1全仓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2296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icrosoft YaHei"/>
              </a:defRPr>
            </a:pPr>
            <a:r>
              <a:t>当前信号 (3/20)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Arial"/>
              </a:defRPr>
            </a:pPr>
            <a:r>
              <a:t>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Arial"/>
              </a:defRPr>
            </a:pPr>
            <a:r>
              <a:t>159726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恒生高股息ETF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4w: -1.6%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CC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CC"/>
                </a:solidFill>
                <a:latin typeface="Arial"/>
              </a:defRPr>
            </a:pPr>
            <a:r>
              <a:t>513180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恒生科技ETF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AACC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4w: -11.0%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CC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CC"/>
                </a:solidFill>
                <a:latin typeface="Arial"/>
              </a:defRPr>
            </a:pPr>
            <a:r>
              <a:t>513060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Microsoft YaHei"/>
              </a:defRPr>
            </a:pPr>
            <a:r>
              <a:t>恒生医疗ETF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AAACC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4w: -11.6%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D  CSI300 低波动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沪深300真实成分股 | 20周最低波动率Top10 | 无幸存者偏差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13.9%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-8.5%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0.955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Calmar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1.636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822960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当前Top10持仓 (3/20) 等权10%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行业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波动率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12w动量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8803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000538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880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云南白药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880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医药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880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7.8%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80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Arial"/>
              </a:defRPr>
            </a:pPr>
            <a:r>
              <a:t>+0.4%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136391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1363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000651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1363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格力电器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1363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电气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13639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9.5%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1363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-4.8%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3924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3924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601607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上海医药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3924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零售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3924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9.8%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3924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-5.7%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64845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601059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6484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信达证券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36484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648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6484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-4.8%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90448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390448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601788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39044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光大证券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39044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390448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9044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-9.8%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1605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4160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000001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4160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平安银行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银行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160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-7.3%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4165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4416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600900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4416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长江电力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416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电力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4416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-1.6%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46725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4672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601878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0" y="4672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浙商证券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0" y="46725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-8.2%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49286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000166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4928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申万宏源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4928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4928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928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-6.9%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1846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601816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0" y="5184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京沪高铁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0" y="5184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铁路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5184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11.1%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5184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157"/>
                </a:solidFill>
                <a:latin typeface="Arial"/>
              </a:defRPr>
            </a:pPr>
            <a:r>
              <a:t>-2.9%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157"/>
                </a:solidFill>
                <a:latin typeface="Microsoft YaHei"/>
              </a:defRPr>
            </a:pPr>
            <a:r>
              <a:t>E  龙头价值反转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28只A股龙头 | 价值(逆向)+质量 | Top4等权 | 月度换仓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22.0%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-17.6%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~1.1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偏差风险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中等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2296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157"/>
                </a:solidFill>
                <a:latin typeface="Microsoft YaHei"/>
              </a:defRPr>
            </a:pPr>
            <a:r>
              <a:t>当前Top4持仓 (3/20) 等权25%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157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300760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迈瑞医疗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医疗器械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12w: -15.7%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4w: -8.8%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157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002230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科大讯飞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12w: -23.0%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4w: -12.1%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157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600276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恒瑞医药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创新药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12w: -11.0%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4w: -2.5%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157"/>
                </a:solidFill>
                <a:latin typeface="Arial"/>
              </a:defRPr>
            </a:pPr>
            <a:r>
              <a:t>#4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000063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中兴通讯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Microsoft YaHei"/>
              </a:defRPr>
            </a:pPr>
            <a:r>
              <a:t>通信设备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12w: -14.4%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157"/>
                </a:solidFill>
                <a:latin typeface="Arial"/>
              </a:defRPr>
            </a:pPr>
            <a:r>
              <a:t>4w: -11.3%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Microsoft YaHei"/>
              </a:defRPr>
            </a:pPr>
            <a:r>
              <a:t>F  美股QDII动量轮动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纳指100+标普500 QDII ETF | 双均线+回撤锁定 | 避险切短债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13.0%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-18.9%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0.809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28016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Calmar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0.689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82296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当前信号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Microsoft YaHei"/>
              </a:defRPr>
            </a:pPr>
            <a:r>
              <a:t>纳指100 8周MA &gt; 20周MA → 进攻模式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Arial"/>
              </a:defRPr>
            </a:pPr>
            <a:r>
              <a:t>159941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纳指100ETF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动量#1 (QDII)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Arial"/>
              </a:defRPr>
            </a:pPr>
            <a:r>
              <a:t>513500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标普500ETF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动量#2 (QDII)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511360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短债ETF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CC"/>
                </a:solidFill>
                <a:latin typeface="Arial"/>
              </a:defRPr>
            </a:pPr>
            <a:r>
              <a:t>避险配置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G  CSI500 低波价值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中证500真实成分股 | 50%低波+50%低PB | Top10 | 无幸存者偏差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Arial"/>
              </a:defRPr>
            </a:pPr>
            <a:r>
              <a:t>13.5%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Max 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57"/>
                </a:solidFill>
                <a:latin typeface="Arial"/>
              </a:defRPr>
            </a:pPr>
            <a:r>
              <a:t>-11.9%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Arial"/>
              </a:defRPr>
            </a:pPr>
            <a:r>
              <a:t>0.794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188720"/>
            <a:ext cx="182880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Calmar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1.132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822960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当前Top10持仓 (3/20) 等权10%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代码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行业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651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AACC"/>
                </a:solidFill>
                <a:latin typeface="Microsoft YaHei"/>
              </a:defRPr>
            </a:pPr>
            <a:r>
              <a:t>波动率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AACC"/>
                </a:solidFill>
                <a:latin typeface="Arial"/>
              </a:defRPr>
            </a:pPr>
            <a:r>
              <a:t>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AAAACC"/>
                </a:solidFill>
                <a:latin typeface="Arial"/>
              </a:defRPr>
            </a:pPr>
            <a:r>
              <a:t>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803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8803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601997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880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贵阳银行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8803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8803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9.3%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880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136391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1363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002958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1363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青农商行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13639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银行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1363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3639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13639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3924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3924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002966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392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苏州银行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3924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银行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3924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9.9%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3924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3924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64845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600332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364845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白云山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36484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医药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6484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8.3%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6484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E0F0"/>
                </a:solidFill>
                <a:latin typeface="Arial"/>
              </a:defRPr>
            </a:pPr>
            <a:r>
              <a:t>1.08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6484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390448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3904487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600109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390448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国金证券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9044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3904487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10.3%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904487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390448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1605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4160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601128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41605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常熟银行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1605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银行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41605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11.5%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41605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0.79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160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4165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4416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002926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0" y="44165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华西证券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44165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44165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11.1%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44165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4416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46725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46725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601333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46725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广深铁路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46725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铁路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0" y="46725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12.0%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6725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0.77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0" y="46725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49286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" y="4928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601928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6000" y="4928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凤凰传媒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4928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出版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0" y="4928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9.3%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4928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E0F0"/>
                </a:solidFill>
                <a:latin typeface="Arial"/>
              </a:defRPr>
            </a:pPr>
            <a:r>
              <a:t>1.24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928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0080" y="51846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Arial"/>
              </a:defRPr>
            </a:pPr>
            <a:r>
              <a:t>000750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6000" y="5184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F0"/>
                </a:solidFill>
                <a:latin typeface="Microsoft YaHei"/>
              </a:defRPr>
            </a:pPr>
            <a:r>
              <a:t>国海证券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0" y="51846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CC"/>
                </a:solidFill>
                <a:latin typeface="Microsoft YaHei"/>
              </a:defRPr>
            </a:pPr>
            <a:r>
              <a:t>证券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0" y="51846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51846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E0F0"/>
                </a:solidFill>
                <a:latin typeface="Arial"/>
              </a:defRPr>
            </a:pPr>
            <a:r>
              <a:t>1.12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0" y="5184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2FF"/>
                </a:solidFill>
                <a:latin typeface="Arial"/>
              </a:defRPr>
            </a:pPr>
            <a:r>
              <a:t>1.05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157"/>
                </a:solidFill>
                <a:latin typeface="Microsoft YaHei"/>
              </a:defRPr>
            </a:pPr>
            <a:r>
              <a:t>偏差处理与风控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偏差处理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幸存者偏差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Microsoft YaHei"/>
              </a:defRPr>
            </a:pPr>
            <a:r>
              <a:t>D/G: 已消除 (baostock历史成分股)</a:t>
            </a:r>
            <a:br/>
            <a:r>
              <a:t>E: 中等 (手选龙头池, 2-4% CAGR影响)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前视偏差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Microsoft YaHei"/>
              </a:defRPr>
            </a:pPr>
            <a:r>
              <a:t>全部消除 (因子仅用历史数据)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交易成本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Microsoft YaHei"/>
              </a:defRPr>
            </a:pPr>
            <a:r>
              <a:t>A/D/G: 8bps | F: 15bps | B/C: 5bps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AAACC"/>
                </a:solidFill>
                <a:latin typeface="Microsoft YaHei"/>
              </a:defRPr>
            </a:pPr>
            <a:r>
              <a:t>数据覆盖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CC"/>
                </a:solidFill>
                <a:latin typeface="Microsoft YaHei"/>
              </a:defRPr>
            </a:pPr>
            <a:r>
              <a:t>D: 445只 | G: 928只 (PB覆盖496只)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097280"/>
            <a:ext cx="4297680" cy="2743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157"/>
                </a:solidFill>
                <a:latin typeface="Microsoft YaHei"/>
              </a:defRPr>
            </a:pPr>
            <a:r>
              <a:t>风控要点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策略间低相关: 债/A股/港股/美股分散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933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D+G: 低波策略天然控回撤 (MDD&lt;12%)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408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F: 双均线+回撤锁定自动切避险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8833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B: Vol缩放 + Regime过滤双重保护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358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E: 仅买龙头 + 跌幅&gt;20%过滤极端风险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83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F0"/>
                </a:solidFill>
                <a:latin typeface="Microsoft YaHei"/>
              </a:defRPr>
            </a:pPr>
            <a:r>
              <a:t>  建议: 确认投入后逐步建仓, 非一次性满仓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